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58" r:id="rId3"/>
  </p:sldIdLst>
  <p:sldSz cx="21374100" cy="30276800"/>
  <p:notesSz cx="6858000" cy="9144000"/>
  <p:embeddedFontLst>
    <p:embeddedFont>
      <p:font typeface="SVN-Gilroy SemiBold" panose="00000700000000000000" pitchFamily="50" charset="0"/>
      <p:bold r:id="rId8"/>
    </p:embeddedFont>
    <p:embeddedFont>
      <p:font typeface="SVN-Gilroy" panose="00000500000000000000" pitchFamily="50" charset="0"/>
      <p:regular r:id="rId9"/>
      <p:bold r:id="rId10"/>
      <p:italic r:id="rId11"/>
      <p:boldItalic r:id="rId12"/>
    </p:embeddedFont>
    <p:embeddedFont>
      <p:font typeface="SVN-Gilroy XBold" panose="00000900000000000000" pitchFamily="50" charset="0"/>
      <p:bold r:id="rId13"/>
    </p:embeddedFont>
    <p:embeddedFont>
      <p:font typeface="SVN-Gilroy" panose="00000500000000000000"/>
      <p:regular r:id="rId14"/>
      <p:bold r:id="rId15"/>
      <p:italic r:id="rId16"/>
      <p:boldItalic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5090" autoAdjust="0"/>
  </p:normalViewPr>
  <p:slideViewPr>
    <p:cSldViewPr showGuides="1">
      <p:cViewPr>
        <p:scale>
          <a:sx n="33" d="100"/>
          <a:sy n="33" d="100"/>
        </p:scale>
        <p:origin x="3402" y="-6"/>
      </p:cViewPr>
      <p:guideLst>
        <p:guide orient="horz" pos="214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14.fntdata"/><Relationship Id="rId20" Type="http://schemas.openxmlformats.org/officeDocument/2006/relationships/font" Target="fonts/font13.fntdata"/><Relationship Id="rId2" Type="http://schemas.openxmlformats.org/officeDocument/2006/relationships/theme" Target="theme/theme1.xml"/><Relationship Id="rId19" Type="http://schemas.openxmlformats.org/officeDocument/2006/relationships/font" Target="fonts/font12.fntdata"/><Relationship Id="rId18" Type="http://schemas.openxmlformats.org/officeDocument/2006/relationships/font" Target="fonts/font11.fntdata"/><Relationship Id="rId17" Type="http://schemas.openxmlformats.org/officeDocument/2006/relationships/font" Target="fonts/font10.fntdata"/><Relationship Id="rId16" Type="http://schemas.openxmlformats.org/officeDocument/2006/relationships/font" Target="fonts/font9.fntdata"/><Relationship Id="rId15" Type="http://schemas.openxmlformats.org/officeDocument/2006/relationships/font" Target="fonts/font8.fntdata"/><Relationship Id="rId14" Type="http://schemas.openxmlformats.org/officeDocument/2006/relationships/font" Target="fonts/font7.fntdata"/><Relationship Id="rId13" Type="http://schemas.openxmlformats.org/officeDocument/2006/relationships/font" Target="fonts/font6.fntdata"/><Relationship Id="rId12" Type="http://schemas.openxmlformats.org/officeDocument/2006/relationships/font" Target="fonts/font5.fntdata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18617-0849-4FC5-A3C6-CE0F1E79DFB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9975" y="1143000"/>
            <a:ext cx="2178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1D160-6648-4A4C-BEA5-3FB406DFE13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Tên loại: </a:t>
            </a:r>
            <a:r>
              <a:rPr lang="en-US"/>
              <a:t>Size: 48; Font: SVN Gilroy </a:t>
            </a:r>
            <a:r>
              <a:rPr lang="en-US" err="1"/>
              <a:t>Xbold</a:t>
            </a:r>
            <a:r>
              <a:rPr lang="en-US"/>
              <a:t>, In </a:t>
            </a:r>
            <a:r>
              <a:rPr lang="en-US" err="1"/>
              <a:t>hoa</a:t>
            </a:r>
            <a:r>
              <a:rPr lang="en-US"/>
              <a:t> </a:t>
            </a:r>
            <a:r>
              <a:rPr lang="en-US" err="1"/>
              <a:t>tất</a:t>
            </a:r>
            <a:r>
              <a:rPr lang="en-US"/>
              <a:t> </a:t>
            </a:r>
            <a:r>
              <a:rPr lang="en-US" err="1"/>
              <a:t>cả</a:t>
            </a:r>
            <a:endParaRPr lang="vi-VN"/>
          </a:p>
          <a:p>
            <a:r>
              <a:rPr lang="vi-VN"/>
              <a:t>Năm - ngành: </a:t>
            </a:r>
            <a:r>
              <a:rPr lang="en-US"/>
              <a:t>36</a:t>
            </a:r>
            <a:r>
              <a:rPr lang="vi-VN"/>
              <a:t> (Năm</a:t>
            </a:r>
            <a:r>
              <a:rPr lang="en-US"/>
              <a:t>: SVN Gilroy </a:t>
            </a:r>
            <a:r>
              <a:rPr lang="en-US" err="1"/>
              <a:t>Semibold</a:t>
            </a:r>
            <a:r>
              <a:rPr lang="en-US"/>
              <a:t> +</a:t>
            </a:r>
            <a:r>
              <a:rPr lang="vi-VN"/>
              <a:t> </a:t>
            </a:r>
            <a:r>
              <a:rPr lang="en-US"/>
              <a:t>I</a:t>
            </a:r>
            <a:r>
              <a:rPr lang="vi-VN" err="1"/>
              <a:t>talic</a:t>
            </a:r>
            <a:r>
              <a:rPr lang="vi-VN"/>
              <a:t> – Ngành</a:t>
            </a:r>
            <a:r>
              <a:rPr lang="en-US"/>
              <a:t>:</a:t>
            </a:r>
            <a:r>
              <a:rPr lang="vi-VN"/>
              <a:t> </a:t>
            </a:r>
            <a:r>
              <a:rPr lang="en-US"/>
              <a:t>SVN Gilroy + Bold</a:t>
            </a:r>
            <a:r>
              <a:rPr lang="vi-VN"/>
              <a:t>)</a:t>
            </a:r>
            <a:endParaRPr lang="vi-VN"/>
          </a:p>
          <a:p>
            <a:r>
              <a:rPr lang="vi-VN"/>
              <a:t>Tên đề tài: </a:t>
            </a:r>
            <a:r>
              <a:rPr lang="en-US"/>
              <a:t>Size: 46; Font: SVN Gilroy + Bold</a:t>
            </a:r>
            <a:endParaRPr lang="vi-VN"/>
          </a:p>
          <a:p>
            <a:r>
              <a:rPr lang="vi-VN"/>
              <a:t>Tên người thực hiện: </a:t>
            </a:r>
            <a:r>
              <a:rPr lang="en-US"/>
              <a:t>Size: 40; Font: SVN Gilroy + Italic</a:t>
            </a:r>
            <a:endParaRPr lang="vi-VN"/>
          </a:p>
          <a:p>
            <a:r>
              <a:rPr lang="vi-VN"/>
              <a:t>QR </a:t>
            </a:r>
            <a:r>
              <a:rPr lang="vi-VN" err="1"/>
              <a:t>Code</a:t>
            </a:r>
            <a:r>
              <a:rPr lang="vi-VN"/>
              <a:t>: </a:t>
            </a:r>
            <a:r>
              <a:rPr lang="en-US"/>
              <a:t>3’’ x 3’’</a:t>
            </a:r>
            <a:endParaRPr lang="vi-VN"/>
          </a:p>
          <a:p>
            <a:endParaRPr lang="vi-VN"/>
          </a:p>
          <a:p>
            <a:r>
              <a:rPr lang="vi-VN"/>
              <a:t>Tên loại đề tài:</a:t>
            </a:r>
            <a:endParaRPr lang="vi-VN"/>
          </a:p>
          <a:p>
            <a:pPr marL="228600" indent="-228600">
              <a:buAutoNum type="arabicPeriod"/>
            </a:pPr>
            <a:r>
              <a:rPr lang="vi-VN"/>
              <a:t>ĐỀ TÀI NGHIÊN CỨU KHOA HỌC</a:t>
            </a:r>
            <a:endParaRPr lang="vi-VN"/>
          </a:p>
          <a:p>
            <a:pPr marL="228600" indent="-228600">
              <a:buAutoNum type="arabicPeriod"/>
            </a:pPr>
            <a:r>
              <a:rPr lang="vi-VN"/>
              <a:t>KHÓA LUẬN TỐT NGHIỆP</a:t>
            </a:r>
            <a:endParaRPr lang="vi-VN"/>
          </a:p>
          <a:p>
            <a:pPr marL="228600" indent="-228600">
              <a:buAutoNum type="arabicPeriod"/>
            </a:pPr>
            <a:r>
              <a:rPr lang="vi-VN"/>
              <a:t>BÀI BÁO KHOA HỌC</a:t>
            </a:r>
            <a:endParaRPr lang="vi-VN"/>
          </a:p>
          <a:p>
            <a:pPr marL="228600" indent="-228600">
              <a:buAutoNum type="arabicPeriod"/>
            </a:pPr>
            <a:r>
              <a:rPr lang="vi-VN"/>
              <a:t>NGHIÊN CỨU DOANH NGHIỆP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D160-6648-4A4C-BEA5-3FB406DFE13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61"/>
          <p:cNvSpPr txBox="1"/>
          <p:nvPr/>
        </p:nvSpPr>
        <p:spPr>
          <a:xfrm>
            <a:off x="1230630" y="1751334"/>
            <a:ext cx="10439400" cy="756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3600" i="1" dirty="0">
                <a:solidFill>
                  <a:schemeClr val="bg1"/>
                </a:solidFill>
                <a:latin typeface="SVN-Gilroy SemiBold" panose="00000700000000000000" pitchFamily="50" charset="0"/>
              </a:rPr>
              <a:t>Năm </a:t>
            </a:r>
            <a:r>
              <a:rPr lang="en-US" sz="3600" i="1" dirty="0" err="1">
                <a:solidFill>
                  <a:schemeClr val="bg1"/>
                </a:solidFill>
                <a:latin typeface="SVN-Gilroy SemiBold" panose="00000700000000000000" pitchFamily="50" charset="0"/>
              </a:rPr>
              <a:t>triển</a:t>
            </a:r>
            <a:r>
              <a:rPr lang="en-US" sz="3600" i="1" dirty="0">
                <a:solidFill>
                  <a:schemeClr val="bg1"/>
                </a:solidFill>
                <a:latin typeface="SVN-Gilroy SemiBold" panose="00000700000000000000" pitchFamily="50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SVN-Gilroy SemiBold" panose="00000700000000000000" pitchFamily="50" charset="0"/>
              </a:rPr>
              <a:t>khai</a:t>
            </a:r>
            <a:r>
              <a:rPr lang="en-US" sz="3600" i="1" dirty="0">
                <a:solidFill>
                  <a:schemeClr val="bg1"/>
                </a:solidFill>
                <a:latin typeface="SVN-Gilroy SemiBold" panose="00000700000000000000" pitchFamily="50" charset="0"/>
              </a:rPr>
              <a:t>: 2026</a:t>
            </a:r>
            <a:endParaRPr lang="en-US" sz="3600" b="1" dirty="0">
              <a:solidFill>
                <a:schemeClr val="bg1"/>
              </a:solidFill>
              <a:latin typeface="SVN-Gilroy" panose="00000500000000000000" pitchFamily="50" charset="0"/>
            </a:endParaRPr>
          </a:p>
        </p:txBody>
      </p:sp>
      <p:sp>
        <p:nvSpPr>
          <p:cNvPr id="44" name="TextBox 61"/>
          <p:cNvSpPr txBox="1"/>
          <p:nvPr/>
        </p:nvSpPr>
        <p:spPr>
          <a:xfrm>
            <a:off x="1230630" y="903737"/>
            <a:ext cx="10439400" cy="705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4800" dirty="0">
                <a:solidFill>
                  <a:schemeClr val="bg1"/>
                </a:solidFill>
                <a:latin typeface="SVN-Gilroy XBold" panose="00000900000000000000" pitchFamily="50" charset="0"/>
              </a:rPr>
              <a:t>DỰ ÁN CÔNG NGHỆ THÔNG TIN </a:t>
            </a:r>
            <a:endParaRPr lang="en-US" sz="4800" dirty="0">
              <a:solidFill>
                <a:schemeClr val="bg1"/>
              </a:solidFill>
              <a:latin typeface="SVN-Gilroy XBold" panose="00000900000000000000" pitchFamily="50" charset="0"/>
            </a:endParaRPr>
          </a:p>
        </p:txBody>
      </p:sp>
      <p:sp>
        <p:nvSpPr>
          <p:cNvPr id="51" name="TextBox 61"/>
          <p:cNvSpPr txBox="1"/>
          <p:nvPr/>
        </p:nvSpPr>
        <p:spPr>
          <a:xfrm>
            <a:off x="1230630" y="3175000"/>
            <a:ext cx="15167610" cy="1513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4600" b="1" dirty="0">
                <a:solidFill>
                  <a:schemeClr val="bg1"/>
                </a:solidFill>
                <a:latin typeface="SVN-Gilroy" panose="00000500000000000000" pitchFamily="50" charset="0"/>
              </a:rPr>
              <a:t>Đề </a:t>
            </a:r>
            <a:r>
              <a:rPr lang="en-US" sz="4600" b="1" dirty="0" err="1">
                <a:solidFill>
                  <a:schemeClr val="bg1"/>
                </a:solidFill>
                <a:latin typeface="SVN-Gilroy" panose="00000500000000000000" pitchFamily="50" charset="0"/>
              </a:rPr>
              <a:t>tài</a:t>
            </a:r>
            <a:r>
              <a:rPr lang="en-US" sz="4600" b="1" dirty="0">
                <a:solidFill>
                  <a:schemeClr val="bg1"/>
                </a:solidFill>
                <a:latin typeface="SVN-Gilroy" panose="00000500000000000000" pitchFamily="50" charset="0"/>
              </a:rPr>
              <a:t>: </a:t>
            </a:r>
            <a:r>
              <a:rPr lang="en-US" altLang="en-US" sz="4600" b="1" dirty="0">
                <a:solidFill>
                  <a:schemeClr val="bg1"/>
                </a:solidFill>
                <a:latin typeface="SVN-Gilroy" panose="00000500000000000000" pitchFamily="50" charset="0"/>
              </a:rPr>
              <a:t>Phát Hiện Sớm Mã Độc Sử Dụng DGA Trên Lưu Lượng DOH Ứng Dụng Học Máy</a:t>
            </a:r>
            <a:endParaRPr lang="en-US" altLang="en-US" sz="4600" b="1" dirty="0">
              <a:solidFill>
                <a:schemeClr val="bg1"/>
              </a:solidFill>
              <a:latin typeface="SVN-Gilroy" panose="00000500000000000000" pitchFamily="50" charset="0"/>
            </a:endParaRPr>
          </a:p>
        </p:txBody>
      </p:sp>
      <p:sp>
        <p:nvSpPr>
          <p:cNvPr id="53" name="TextBox 61"/>
          <p:cNvSpPr txBox="1"/>
          <p:nvPr/>
        </p:nvSpPr>
        <p:spPr>
          <a:xfrm>
            <a:off x="1206610" y="5085383"/>
            <a:ext cx="15167610" cy="756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vi-VN" sz="4000" i="1" dirty="0">
                <a:solidFill>
                  <a:schemeClr val="bg1"/>
                </a:solidFill>
                <a:latin typeface="SVN-Gilroy" panose="00000500000000000000" pitchFamily="50" charset="0"/>
              </a:rPr>
              <a:t>Nguyễn </a:t>
            </a:r>
            <a:r>
              <a:rPr lang="en-US" altLang="vi-VN" sz="4000" i="1" dirty="0">
                <a:solidFill>
                  <a:schemeClr val="bg1"/>
                </a:solidFill>
                <a:latin typeface="SVN-Gilroy" panose="00000500000000000000" pitchFamily="50" charset="0"/>
              </a:rPr>
              <a:t>Hoàng Sơn</a:t>
            </a:r>
            <a:r>
              <a:rPr lang="vi-VN" sz="4000" i="1" baseline="30000" dirty="0">
                <a:solidFill>
                  <a:schemeClr val="bg1"/>
                </a:solidFill>
                <a:latin typeface="SVN-Gilroy" panose="00000500000000000000" pitchFamily="50" charset="0"/>
              </a:rPr>
              <a:t>1</a:t>
            </a:r>
            <a:r>
              <a:rPr lang="vi-VN" sz="4000" i="1" dirty="0">
                <a:solidFill>
                  <a:schemeClr val="bg1"/>
                </a:solidFill>
                <a:latin typeface="SVN-Gilroy" panose="00000500000000000000" pitchFamily="50" charset="0"/>
              </a:rPr>
              <a:t>, </a:t>
            </a:r>
            <a:r>
              <a:rPr lang="en-US" altLang="vi-VN" sz="4000" i="1" dirty="0">
                <a:solidFill>
                  <a:schemeClr val="bg1"/>
                </a:solidFill>
                <a:latin typeface="SVN-Gilroy" panose="00000500000000000000" pitchFamily="50" charset="0"/>
              </a:rPr>
              <a:t>Lê Thị Mỹ Phụng</a:t>
            </a:r>
            <a:r>
              <a:rPr lang="vi-VN" sz="4000" i="1" baseline="30000" dirty="0">
                <a:solidFill>
                  <a:schemeClr val="bg1"/>
                </a:solidFill>
                <a:latin typeface="SVN-Gilroy" panose="00000500000000000000" pitchFamily="50" charset="0"/>
              </a:rPr>
              <a:t>2</a:t>
            </a:r>
            <a:r>
              <a:rPr lang="vi-VN" sz="4000" i="1" dirty="0">
                <a:solidFill>
                  <a:schemeClr val="bg1"/>
                </a:solidFill>
                <a:latin typeface="SVN-Gilroy" panose="00000500000000000000" pitchFamily="50" charset="0"/>
              </a:rPr>
              <a:t>, Tr</a:t>
            </a:r>
            <a:r>
              <a:rPr lang="en-US" altLang="vi-VN" sz="4000" i="1" dirty="0">
                <a:solidFill>
                  <a:schemeClr val="bg1"/>
                </a:solidFill>
                <a:latin typeface="SVN-Gilroy" panose="00000500000000000000" pitchFamily="50" charset="0"/>
              </a:rPr>
              <a:t>ương Đình Tú</a:t>
            </a:r>
            <a:r>
              <a:rPr lang="vi-VN" sz="4000" i="1" baseline="30000" dirty="0">
                <a:solidFill>
                  <a:schemeClr val="bg1"/>
                </a:solidFill>
                <a:latin typeface="SVN-Gilroy" panose="00000500000000000000" pitchFamily="50" charset="0"/>
              </a:rPr>
              <a:t>*</a:t>
            </a:r>
            <a:r>
              <a:rPr lang="vi-VN" sz="4000" i="1" dirty="0">
                <a:solidFill>
                  <a:schemeClr val="bg1"/>
                </a:solidFill>
                <a:latin typeface="SVN-Gilroy" panose="00000500000000000000" pitchFamily="50" charset="0"/>
              </a:rPr>
              <a:t> </a:t>
            </a:r>
            <a:endParaRPr lang="vi-VN" sz="4000" i="1" dirty="0">
              <a:solidFill>
                <a:schemeClr val="bg1"/>
              </a:solidFill>
              <a:latin typeface="SVN-Gilroy" panose="00000500000000000000" pitchFamily="50" charset="0"/>
            </a:endParaRPr>
          </a:p>
        </p:txBody>
      </p:sp>
      <p:sp>
        <p:nvSpPr>
          <p:cNvPr id="2" name="TextBox 61"/>
          <p:cNvSpPr txBox="1"/>
          <p:nvPr/>
        </p:nvSpPr>
        <p:spPr>
          <a:xfrm>
            <a:off x="1206610" y="6203073"/>
            <a:ext cx="15704820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sz="2800" i="1" baseline="30000">
                <a:solidFill>
                  <a:schemeClr val="bg1"/>
                </a:solidFill>
                <a:latin typeface="SVN-Gilroy" panose="00000500000000000000" pitchFamily="50" charset="0"/>
              </a:rPr>
              <a:t>1 </a:t>
            </a:r>
            <a:r>
              <a:rPr lang="vi-VN" sz="2800" i="1">
                <a:solidFill>
                  <a:schemeClr val="bg1"/>
                </a:solidFill>
                <a:latin typeface="SVN-Gilroy" panose="00000500000000000000" pitchFamily="50" charset="0"/>
              </a:rPr>
              <a:t>Sinh viên ngành </a:t>
            </a:r>
            <a:r>
              <a:rPr lang="en-US" altLang="vi-VN" sz="2800" i="1">
                <a:solidFill>
                  <a:schemeClr val="bg1"/>
                </a:solidFill>
                <a:latin typeface="SVN-Gilroy" panose="00000500000000000000" pitchFamily="50" charset="0"/>
              </a:rPr>
              <a:t>Mạng</a:t>
            </a:r>
            <a:r>
              <a:rPr lang="vi-VN" sz="2800" i="1">
                <a:solidFill>
                  <a:schemeClr val="bg1"/>
                </a:solidFill>
                <a:latin typeface="SVN-Gilroy" panose="00000500000000000000" pitchFamily="50" charset="0"/>
              </a:rPr>
              <a:t> </a:t>
            </a:r>
            <a:r>
              <a:rPr lang="en-US" altLang="vi-VN" sz="2800" i="1">
                <a:solidFill>
                  <a:schemeClr val="bg1"/>
                </a:solidFill>
                <a:latin typeface="SVN-Gilroy" panose="00000500000000000000" pitchFamily="50" charset="0"/>
              </a:rPr>
              <a:t>m</a:t>
            </a:r>
            <a:r>
              <a:rPr lang="vi-VN" sz="2800" i="1">
                <a:solidFill>
                  <a:schemeClr val="bg1"/>
                </a:solidFill>
                <a:latin typeface="SVN-Gilroy" panose="00000500000000000000" pitchFamily="50" charset="0"/>
              </a:rPr>
              <a:t>áy tính</a:t>
            </a:r>
            <a:r>
              <a:rPr lang="en-US" altLang="vi-VN" sz="2800" i="1">
                <a:solidFill>
                  <a:schemeClr val="bg1"/>
                </a:solidFill>
                <a:latin typeface="SVN-Gilroy" panose="00000500000000000000" pitchFamily="50" charset="0"/>
              </a:rPr>
              <a:t> và Truyền thông dữ liệu</a:t>
            </a:r>
            <a:r>
              <a:rPr lang="vi-VN" sz="2800" i="1">
                <a:solidFill>
                  <a:schemeClr val="bg1"/>
                </a:solidFill>
                <a:latin typeface="SVN-Gilroy" panose="00000500000000000000" pitchFamily="50" charset="0"/>
              </a:rPr>
              <a:t>, </a:t>
            </a:r>
            <a:r>
              <a:rPr lang="vi-VN" sz="2800" i="1" baseline="30000">
                <a:solidFill>
                  <a:schemeClr val="bg1"/>
                </a:solidFill>
                <a:latin typeface="SVN-Gilroy" panose="00000500000000000000" pitchFamily="50" charset="0"/>
              </a:rPr>
              <a:t>*</a:t>
            </a:r>
            <a:r>
              <a:rPr lang="vi-VN" sz="2800" i="1">
                <a:solidFill>
                  <a:schemeClr val="bg1"/>
                </a:solidFill>
                <a:latin typeface="SVN-Gilroy" panose="00000500000000000000" pitchFamily="50" charset="0"/>
              </a:rPr>
              <a:t>GVHD Khoa Công nghệ thông tin </a:t>
            </a:r>
            <a:endParaRPr lang="vi-VN" sz="2800" i="1">
              <a:solidFill>
                <a:schemeClr val="bg1"/>
              </a:solidFill>
              <a:latin typeface="SVN-Gilroy" panose="00000500000000000000" pitchFamily="50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91310" y="7481570"/>
          <a:ext cx="18277840" cy="2015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9545"/>
                <a:gridCol w="9218295"/>
              </a:tblGrid>
              <a:tr h="8260080">
                <a:tc>
                  <a:txBody>
                    <a:bodyPr/>
                    <a:lstStyle/>
                    <a:p>
                      <a:r>
                        <a:rPr lang="vi-VN" sz="2800" dirty="0">
                          <a:solidFill>
                            <a:srgbClr val="0070C0"/>
                          </a:solidFill>
                          <a:latin typeface="SVN-Gilroy" panose="00000500000000000000"/>
                        </a:rPr>
                        <a:t>TÓM TẮT</a:t>
                      </a:r>
                      <a:endParaRPr lang="vi-VN" sz="2800" dirty="0">
                        <a:solidFill>
                          <a:srgbClr val="0070C0"/>
                        </a:solidFill>
                        <a:latin typeface="SVN-Gilroy" panose="00000500000000000000"/>
                      </a:endParaRPr>
                    </a:p>
                    <a:p>
                      <a:endParaRPr lang="vi-VN" sz="2800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  <a:p>
                      <a:pPr algn="just"/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Giao thức DNS over HTTPS (DoH) ngày càng phổ biến vô tình tạo ra một covert channel giúp mã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ộc DGA v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ợt qua các hệ thống phát hiện truyền thống. Nghiên cứu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ề xuất hệ thống phát hiện sớm mã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ộc DGA trên l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u l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ợng DoH bằng học máy, tối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u cho thời gian thực thông qua việc chỉ sử dụng 10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ặc tr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ng thống kê từ 10 gói tin Application Data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ầu tiên của mỗi luồng mạng, giúp triệt tiêu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iểm nghẽn về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ộ trễ cho phép cảnh báo trong thời gian chưa tới 6 giây.</a:t>
                      </a:r>
                      <a:endParaRPr lang="en-US" altLang="en-US" sz="2600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  <a:p>
                      <a:pPr algn="just"/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Hệ thống kết hợp SMOTE, RobustScaler và thuật toán LightGBM nhằm xử l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ý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 mất cân bằng dữ liệu, giảm ảnh h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ởng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ộ nhiễu và ngoại lệ do độ trễ truyền tải gây ra, đồng thời t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ă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ng tốc độ suy luận. Mô hình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ợc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ánh giá bằng chiến l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ợc LOFO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ể kiểm tra khả n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ă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ng phát hiện mã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ộc ch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a biết. Kết quả cho thấy hệ thống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ạt Recall trên 97%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ối với các họ mã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ộc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ã 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ợc huấn luyện, FPR d</a:t>
                      </a:r>
                      <a:r>
                        <a:rPr lang="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ới 0,1% và vẫn duy trì hơn 70% Recall trong các kịch bản Zero-day mô phỏng.</a:t>
                      </a:r>
                      <a:endParaRPr lang="en-US" altLang="en-US" sz="2600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800">
                          <a:solidFill>
                            <a:srgbClr val="0070C0"/>
                          </a:solidFill>
                          <a:latin typeface="SVN-Gilroy" panose="00000500000000000000"/>
                        </a:rPr>
                        <a:t>DANH SÁCH 10 ĐẶC TRƯNG ĐƯỢC CHỌN</a:t>
                      </a:r>
                      <a:endParaRPr lang="en-GB" sz="280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882640">
                <a:tc>
                  <a:txBody>
                    <a:bodyPr/>
                    <a:lstStyle/>
                    <a:p>
                      <a:r>
                        <a:rPr lang="vi-VN" sz="2800" b="1" dirty="0">
                          <a:solidFill>
                            <a:srgbClr val="0070C0"/>
                          </a:solidFill>
                          <a:latin typeface="SVN-Gilroy" panose="00000500000000000000"/>
                          <a:sym typeface="+mn-ea"/>
                        </a:rPr>
                        <a:t>CÁC BƯỚC </a:t>
                      </a:r>
                      <a:r>
                        <a:rPr lang="en-US" altLang="vi-VN" sz="2800" b="1" dirty="0">
                          <a:solidFill>
                            <a:srgbClr val="0070C0"/>
                          </a:solidFill>
                          <a:latin typeface="SVN-Gilroy" panose="00000500000000000000"/>
                          <a:sym typeface="+mn-ea"/>
                        </a:rPr>
                        <a:t>TRIỂN KHAI</a:t>
                      </a:r>
                      <a:endParaRPr lang="vi-VN" sz="2800" b="1" dirty="0">
                        <a:solidFill>
                          <a:srgbClr val="0070C0"/>
                        </a:solidFill>
                        <a:latin typeface="SVN-Gilroy" panose="00000500000000000000"/>
                      </a:endParaRPr>
                    </a:p>
                    <a:p>
                      <a:endParaRPr lang="vi-VN" sz="2800" b="1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  <a:p>
                      <a:pPr marL="514350" indent="-514350">
                        <a:buFont typeface="+mj-lt"/>
                        <a:buAutoNum type="arabicPeriod"/>
                      </a:pP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Thu thập và tổng hợp dữ liệu (Benign + DGA) </a:t>
                      </a:r>
                      <a:endParaRPr lang="en-US" altLang="en-US" sz="2600" b="1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  <a:p>
                      <a:pPr marL="514350" indent="-514350">
                        <a:buAutoNum type="arabicPeriod"/>
                      </a:pP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Tiền xử l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ý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 dữ liệu: chuẩn hóa nhãn, xử l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ý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 giá trị lỗi và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iền khuyết dữ liệu...</a:t>
                      </a:r>
                      <a:endParaRPr lang="en-US" altLang="en-US" sz="2600" b="1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  <a:p>
                      <a:pPr marL="514350" indent="-514350">
                        <a:buAutoNum type="arabicPeriod"/>
                      </a:pP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Á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p dung SMOTE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ể cân bằng số l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ợng mẫu giữa các lớp và RobustScaler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ể giảm ảnh h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ởng của nhiễu và giá trị ngoại lai.</a:t>
                      </a:r>
                      <a:endParaRPr lang="en-US" altLang="en-US" sz="2600" b="1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  <a:p>
                      <a:pPr marL="514350" indent="-514350">
                        <a:buAutoNum type="arabicPeriod"/>
                      </a:pP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Train model LightGBM học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ặc tr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ng hành vi giữa l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u l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ợng th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ờng và l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u l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ợng mã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ộc DGA.</a:t>
                      </a:r>
                      <a:endParaRPr lang="en-US" altLang="en-US" sz="2600" b="1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  <a:p>
                      <a:pPr marL="514350" indent="-514350">
                        <a:buAutoNum type="arabicPeriod"/>
                      </a:pPr>
                      <a:r>
                        <a:rPr 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T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rích xuất 10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ặc tr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ư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ng từ 10 gói Application Data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ầu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ể dự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oán nhanh hành vi mã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ộc.</a:t>
                      </a:r>
                      <a:endParaRPr lang="en-US" altLang="en-US" sz="2600" b="1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  <a:p>
                      <a:pPr marL="514350" indent="-514350">
                        <a:buAutoNum type="arabicPeriod"/>
                      </a:pP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ánh giá hiệu n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ă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ng: Accuracy, Recall, F1-Score, kiểm thử Zero-day LOFO và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o </a:t>
                      </a:r>
                      <a:r>
                        <a:rPr lang="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đ</a:t>
                      </a:r>
                      <a:r>
                        <a:rPr lang="en-US" altLang="en-US" sz="2600" b="1" dirty="0">
                          <a:solidFill>
                            <a:schemeClr val="tx1"/>
                          </a:solidFill>
                          <a:latin typeface="SVN-Gilroy" panose="00000500000000000000"/>
                        </a:rPr>
                        <a:t>ộ trễ realtime.</a:t>
                      </a:r>
                      <a:endParaRPr lang="en-US" altLang="en-US" sz="2600" b="1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800" b="1" dirty="0">
                          <a:solidFill>
                            <a:srgbClr val="0070C0"/>
                          </a:solidFill>
                          <a:latin typeface="SVN-Gilroy" panose="00000500000000000000"/>
                          <a:sym typeface="+mn-ea"/>
                        </a:rPr>
                        <a:t>SO SÁNH KẾT QUẢ VỚI CÁC NGHIÊN CỨU KHÁC</a:t>
                      </a:r>
                      <a:endParaRPr lang="en-US" sz="2800" b="1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06725">
                <a:tc>
                  <a:txBody>
                    <a:bodyPr/>
                    <a:lstStyle/>
                    <a:p>
                      <a:r>
                        <a:rPr lang="vi-VN" sz="2800" b="1">
                          <a:solidFill>
                            <a:srgbClr val="0070C0"/>
                          </a:solidFill>
                          <a:latin typeface="SVN-Gilroy" panose="00000500000000000000"/>
                        </a:rPr>
                        <a:t>KẾT QUẢ MÔ HÌNH </a:t>
                      </a:r>
                      <a:endParaRPr lang="en-GB" sz="2800" b="1">
                        <a:solidFill>
                          <a:srgbClr val="0070C0"/>
                        </a:solidFill>
                        <a:latin typeface="SVN-Gilroy" panose="00000500000000000000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80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02915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  <a:latin typeface="SVN-Gilroy" panose="00000500000000000000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t="2596" b="3070"/>
          <a:stretch>
            <a:fillRect/>
          </a:stretch>
        </p:blipFill>
        <p:spPr>
          <a:xfrm>
            <a:off x="10915650" y="8173720"/>
            <a:ext cx="7708900" cy="75876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9450" y="16662400"/>
            <a:ext cx="8373110" cy="102673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0" y="22301200"/>
            <a:ext cx="8477250" cy="44532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1790</Words>
  <Application>WPS Presentation</Application>
  <PresentationFormat>Custom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SVN-Gilroy SemiBold</vt:lpstr>
      <vt:lpstr>SVN-Gilroy</vt:lpstr>
      <vt:lpstr>SVN-Gilroy XBold</vt:lpstr>
      <vt:lpstr>SVN-Gilroy</vt:lpstr>
      <vt:lpstr>Microsoft YaHei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triễn lãm NCKH_ALD</dc:title>
  <dc:creator/>
  <cp:lastModifiedBy>Mỹ Phụng</cp:lastModifiedBy>
  <cp:revision>35</cp:revision>
  <dcterms:created xsi:type="dcterms:W3CDTF">2006-08-16T00:00:00Z</dcterms:created>
  <dcterms:modified xsi:type="dcterms:W3CDTF">2026-05-11T02:56:57Z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CCBE85ED5C844403B09966F179E09C30_13</vt:lpwstr>
  </property>
  <property fmtid="{D5CDD505-2E9C-101B-9397-08002B2CF9AE}" pid="3" name="KSOProductBuildVer">
    <vt:lpwstr>1033-12.1.0.25242</vt:lpwstr>
  </property>
</Properties>
</file>